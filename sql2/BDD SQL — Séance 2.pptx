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 des deux groupes. Slides courtes : l'essentiel du temps est sur SQLiteStudio.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rapide, à l'oral — pas besoin de s'attarder si le groupe est à l'aise.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aussi l'onglet Contraintes dans SQLiteStudio sur une vraie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schéma complet de chinook.db a 11 tables ; on ne montre ici que deux chaînes utiles pour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64" y="609564"/>
            <a:ext cx="11302057" cy="48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BUT3 GEA — IUT de Saint-Denis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564" y="1274991"/>
            <a:ext cx="11302057" cy="1425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25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BDD SQL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609564" y="2878306"/>
            <a:ext cx="11302057" cy="1047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dirty="0">
                <a:solidFill>
                  <a:srgbClr val="C7D0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Séance 2 — clés, jointures, et un peu plus de SELECT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09564" y="4103747"/>
            <a:ext cx="2159000" cy="507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09564" y="5839474"/>
            <a:ext cx="11302057" cy="434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Informatique — Bases de données relationnelles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4"/>
            <a:ext cx="1109271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séance 1, en un coup d'œil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711188" y="1689064"/>
            <a:ext cx="3378188" cy="356622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41376" y="2019252"/>
            <a:ext cx="2799346" cy="1092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41"/>
              </a:lnSpc>
              <a:buNone/>
            </a:pPr>
            <a:r>
              <a:rPr lang="en-US" sz="2868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/ FROM / WHERE</a:t>
            </a:r>
            <a:endParaRPr lang="en-US" sz="2868" dirty="0"/>
          </a:p>
        </p:txBody>
      </p:sp>
      <p:sp>
        <p:nvSpPr>
          <p:cNvPr id="5" name="Text 3"/>
          <p:cNvSpPr/>
          <p:nvPr/>
        </p:nvSpPr>
        <p:spPr>
          <a:xfrm>
            <a:off x="1041376" y="3251488"/>
            <a:ext cx="2799346" cy="1699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83"/>
              </a:lnSpc>
              <a:buNone/>
            </a:pPr>
            <a:r>
              <a:rPr lang="en-US" sz="2273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Choisir des colonnes, filtrer des lignes, comparer des valeurs.</a:t>
            </a:r>
            <a:endParaRPr lang="en-US" sz="2273" dirty="0"/>
          </a:p>
        </p:txBody>
      </p:sp>
      <p:sp>
        <p:nvSpPr>
          <p:cNvPr id="6" name="Shape 4"/>
          <p:cNvSpPr/>
          <p:nvPr/>
        </p:nvSpPr>
        <p:spPr>
          <a:xfrm>
            <a:off x="4406876" y="1689064"/>
            <a:ext cx="3378248" cy="356622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737064" y="2019252"/>
            <a:ext cx="2799408" cy="49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b="1" dirty="0">
                <a:solidFill>
                  <a:srgbClr val="C97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LIKE, % et _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4737064" y="2656718"/>
            <a:ext cx="2799408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500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Chercher un motif texte plutôt qu'une valeur exacte.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8102623" y="1689064"/>
            <a:ext cx="3378188" cy="356622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432812" y="2019252"/>
            <a:ext cx="2799346" cy="49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b="1" dirty="0">
                <a:solidFill>
                  <a:srgbClr val="1F7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AND, OR, IN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432812" y="2656718"/>
            <a:ext cx="2799346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500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Combiner plusieurs conditions dans un même WHERE.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11188" y="5636286"/>
            <a:ext cx="11092712" cy="434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questions avant qu'on avance ?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4"/>
            <a:ext cx="11092712" cy="793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5500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 programme aujourd'hui</a:t>
            </a:r>
            <a:endParaRPr lang="en-US" sz="5500" dirty="0"/>
          </a:p>
        </p:txBody>
      </p:sp>
      <p:sp>
        <p:nvSpPr>
          <p:cNvPr id="3" name="Shape 1"/>
          <p:cNvSpPr/>
          <p:nvPr/>
        </p:nvSpPr>
        <p:spPr>
          <a:xfrm>
            <a:off x="711188" y="1736616"/>
            <a:ext cx="10769623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1188" y="1890629"/>
            <a:ext cx="660364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587440" y="1890629"/>
            <a:ext cx="4513998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132A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 et ORDER BY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11188" y="2598257"/>
            <a:ext cx="10769623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88" y="2752268"/>
            <a:ext cx="660364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587440" y="2752268"/>
            <a:ext cx="6214961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132A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Colonnes calculées, AS, ROUND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1188" y="3459837"/>
            <a:ext cx="10769623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88" y="3613848"/>
            <a:ext cx="660364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587440" y="3613848"/>
            <a:ext cx="5079045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132A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primaire, clé étrangère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711188" y="4321415"/>
            <a:ext cx="10769623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188" y="4475428"/>
            <a:ext cx="660364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587440" y="4475428"/>
            <a:ext cx="2294625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132A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INNER JOIN</a:t>
            </a:r>
            <a:endParaRPr lang="en-US" sz="3100" dirty="0"/>
          </a:p>
        </p:txBody>
      </p:sp>
      <p:sp>
        <p:nvSpPr>
          <p:cNvPr id="15" name="Shape 13"/>
          <p:cNvSpPr/>
          <p:nvPr/>
        </p:nvSpPr>
        <p:spPr>
          <a:xfrm>
            <a:off x="711188" y="5182995"/>
            <a:ext cx="10769623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188" y="6042073"/>
            <a:ext cx="10769623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188" y="5337008"/>
            <a:ext cx="660364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1587440" y="5337008"/>
            <a:ext cx="5991432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132A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Exercices guidés, puis Devoir 2</a:t>
            </a:r>
            <a:endParaRPr lang="en-US" sz="3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4"/>
            <a:ext cx="11092712" cy="46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4"/>
              </a:lnSpc>
              <a:buNone/>
            </a:pPr>
            <a:r>
              <a:rPr lang="en-US" sz="2887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Trier et filtrer les doublons</a:t>
            </a:r>
            <a:endParaRPr lang="en-US" sz="2887" dirty="0"/>
          </a:p>
        </p:txBody>
      </p:sp>
      <p:sp>
        <p:nvSpPr>
          <p:cNvPr id="3" name="Text 1"/>
          <p:cNvSpPr/>
          <p:nvPr/>
        </p:nvSpPr>
        <p:spPr>
          <a:xfrm>
            <a:off x="711188" y="1252080"/>
            <a:ext cx="11092712" cy="6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5"/>
              </a:lnSpc>
              <a:buNone/>
            </a:pPr>
            <a:r>
              <a:rPr lang="en-US" sz="4205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DISTINCT : supprimer les répétitions</a:t>
            </a:r>
            <a:endParaRPr lang="en-US" sz="4205" dirty="0"/>
          </a:p>
        </p:txBody>
      </p:sp>
      <p:sp>
        <p:nvSpPr>
          <p:cNvPr id="4" name="Text 2"/>
          <p:cNvSpPr/>
          <p:nvPr/>
        </p:nvSpPr>
        <p:spPr>
          <a:xfrm>
            <a:off x="711188" y="2039877"/>
            <a:ext cx="11092712" cy="1017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1"/>
              </a:lnSpc>
              <a:buNone/>
            </a:pPr>
            <a:r>
              <a:rPr lang="en-US" sz="2608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colonne peut contenir des valeurs répétées. DISTINCT ne garde qu'une occurrence de chaque valeur.</a:t>
            </a:r>
            <a:endParaRPr lang="en-US" sz="2608" dirty="0"/>
          </a:p>
        </p:txBody>
      </p:sp>
      <p:sp>
        <p:nvSpPr>
          <p:cNvPr id="5" name="Shape 3"/>
          <p:cNvSpPr/>
          <p:nvPr/>
        </p:nvSpPr>
        <p:spPr>
          <a:xfrm>
            <a:off x="711188" y="3413065"/>
            <a:ext cx="10769623" cy="1866395"/>
          </a:xfrm>
          <a:prstGeom prst="roundRect">
            <a:avLst>
              <a:gd name="adj" fmla="val 8846"/>
            </a:avLst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1092188" y="3794065"/>
            <a:ext cx="10307852" cy="112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60"/>
              </a:lnSpc>
              <a:buNone/>
            </a:pPr>
            <a:r>
              <a:rPr lang="en-US" sz="3114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DISTINCT</a:t>
            </a:r>
            <a:r>
              <a:rPr lang="en-US" sz="3114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BillingCountry </a:t>
            </a:r>
            <a:r>
              <a:rPr lang="en-US" sz="3114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3114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invoices;</a:t>
            </a:r>
            <a:endParaRPr lang="en-US" sz="3114" dirty="0"/>
          </a:p>
        </p:txBody>
      </p:sp>
      <p:sp>
        <p:nvSpPr>
          <p:cNvPr id="7" name="Text 5"/>
          <p:cNvSpPr/>
          <p:nvPr/>
        </p:nvSpPr>
        <p:spPr>
          <a:xfrm>
            <a:off x="711188" y="5660459"/>
            <a:ext cx="11092712" cy="41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69"/>
              </a:lnSpc>
              <a:buNone/>
            </a:pPr>
            <a:r>
              <a:rPr lang="en-US" sz="2192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DISTINCT : une ligne par facture. Avec DISTINCT : une ligne par pays.</a:t>
            </a:r>
            <a:endParaRPr lang="en-US" sz="219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6"/>
            <a:ext cx="11092712" cy="36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2267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Trier et filtrer les doublons</a:t>
            </a:r>
            <a:endParaRPr lang="en-US" sz="2267" dirty="0"/>
          </a:p>
        </p:txBody>
      </p:sp>
      <p:sp>
        <p:nvSpPr>
          <p:cNvPr id="3" name="Text 1"/>
          <p:cNvSpPr/>
          <p:nvPr/>
        </p:nvSpPr>
        <p:spPr>
          <a:xfrm>
            <a:off x="711188" y="1155688"/>
            <a:ext cx="11092712" cy="49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9"/>
              </a:lnSpc>
              <a:buNone/>
            </a:pPr>
            <a:r>
              <a:rPr lang="en-US" sz="3335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 BY : trier les résultats</a:t>
            </a:r>
            <a:endParaRPr lang="en-US" sz="3335" dirty="0"/>
          </a:p>
        </p:txBody>
      </p:sp>
      <p:sp>
        <p:nvSpPr>
          <p:cNvPr id="4" name="Text 2"/>
          <p:cNvSpPr/>
          <p:nvPr/>
        </p:nvSpPr>
        <p:spPr>
          <a:xfrm>
            <a:off x="711188" y="1825324"/>
            <a:ext cx="11092712" cy="41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1"/>
              </a:lnSpc>
              <a:buNone/>
            </a:pPr>
            <a:r>
              <a:rPr lang="en-US" sz="2047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ASC (croissant) est l'ordre par défaut ; DESC inverse l'ordre.</a:t>
            </a:r>
            <a:endParaRPr lang="en-US" sz="2047" dirty="0"/>
          </a:p>
        </p:txBody>
      </p:sp>
      <p:sp>
        <p:nvSpPr>
          <p:cNvPr id="5" name="Shape 3"/>
          <p:cNvSpPr/>
          <p:nvPr/>
        </p:nvSpPr>
        <p:spPr>
          <a:xfrm>
            <a:off x="711188" y="2593578"/>
            <a:ext cx="10769623" cy="2751667"/>
          </a:xfrm>
          <a:prstGeom prst="roundRect">
            <a:avLst>
              <a:gd name="adj" fmla="val 6000"/>
            </a:avLst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1092188" y="2974578"/>
            <a:ext cx="10307852" cy="91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74"/>
              </a:lnSpc>
              <a:buNone/>
            </a:pPr>
            <a:r>
              <a:rPr lang="en-US" sz="3053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DISTINCT</a:t>
            </a:r>
            <a:r>
              <a:rPr lang="en-US" sz="3053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BillingCity, BillingCountry</a:t>
            </a:r>
            <a:endParaRPr lang="en-US" sz="3053" dirty="0"/>
          </a:p>
        </p:txBody>
      </p:sp>
      <p:sp>
        <p:nvSpPr>
          <p:cNvPr id="7" name="Text 5"/>
          <p:cNvSpPr/>
          <p:nvPr/>
        </p:nvSpPr>
        <p:spPr>
          <a:xfrm>
            <a:off x="1092188" y="3969414"/>
            <a:ext cx="10307852" cy="472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2516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2516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invoices</a:t>
            </a:r>
            <a:endParaRPr lang="en-US" sz="2516" dirty="0"/>
          </a:p>
        </p:txBody>
      </p:sp>
      <p:sp>
        <p:nvSpPr>
          <p:cNvPr id="8" name="Text 6"/>
          <p:cNvSpPr/>
          <p:nvPr/>
        </p:nvSpPr>
        <p:spPr>
          <a:xfrm>
            <a:off x="1092188" y="4517641"/>
            <a:ext cx="10307852" cy="472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2516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</a:t>
            </a:r>
            <a:r>
              <a:rPr lang="en-US" sz="2516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BillingCountry </a:t>
            </a:r>
            <a:r>
              <a:rPr lang="en-US" sz="2516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ASC</a:t>
            </a:r>
            <a:r>
              <a:rPr lang="en-US" sz="2516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516" dirty="0"/>
          </a:p>
        </p:txBody>
      </p:sp>
      <p:sp>
        <p:nvSpPr>
          <p:cNvPr id="9" name="Text 7"/>
          <p:cNvSpPr/>
          <p:nvPr/>
        </p:nvSpPr>
        <p:spPr>
          <a:xfrm>
            <a:off x="711188" y="5726246"/>
            <a:ext cx="11092712" cy="344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16"/>
              </a:lnSpc>
              <a:buNone/>
            </a:pPr>
            <a:r>
              <a:rPr lang="en-US" sz="1797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peut trier sur plusieurs colonnes, séparées par des virgules.</a:t>
            </a:r>
            <a:endParaRPr lang="en-US" sz="17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6"/>
            <a:ext cx="11092712" cy="400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4"/>
              </a:lnSpc>
              <a:buNone/>
            </a:pPr>
            <a:r>
              <a:rPr lang="en-US" sz="2470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Calculer à l'affichage</a:t>
            </a:r>
            <a:endParaRPr lang="en-US" sz="2470" dirty="0"/>
          </a:p>
        </p:txBody>
      </p:sp>
      <p:sp>
        <p:nvSpPr>
          <p:cNvPr id="3" name="Text 1"/>
          <p:cNvSpPr/>
          <p:nvPr/>
        </p:nvSpPr>
        <p:spPr>
          <a:xfrm>
            <a:off x="711188" y="1188219"/>
            <a:ext cx="11092712" cy="50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69"/>
              </a:lnSpc>
              <a:buNone/>
            </a:pPr>
            <a:r>
              <a:rPr lang="en-US" sz="3427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Colonnes calculées, AS et ROUND</a:t>
            </a:r>
            <a:endParaRPr lang="en-US" sz="3427" dirty="0"/>
          </a:p>
        </p:txBody>
      </p:sp>
      <p:sp>
        <p:nvSpPr>
          <p:cNvPr id="4" name="Text 2"/>
          <p:cNvSpPr/>
          <p:nvPr/>
        </p:nvSpPr>
        <p:spPr>
          <a:xfrm>
            <a:off x="711188" y="1868980"/>
            <a:ext cx="11092712" cy="87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54"/>
              </a:lnSpc>
              <a:buNone/>
            </a:pPr>
            <a:r>
              <a:rPr lang="en-US" sz="2503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calcul ne modifie pas la table : il n'existe que dans le résultat affiché.</a:t>
            </a:r>
            <a:endParaRPr lang="en-US" sz="2503" dirty="0"/>
          </a:p>
        </p:txBody>
      </p:sp>
      <p:sp>
        <p:nvSpPr>
          <p:cNvPr id="5" name="Shape 3"/>
          <p:cNvSpPr/>
          <p:nvPr/>
        </p:nvSpPr>
        <p:spPr>
          <a:xfrm>
            <a:off x="711188" y="3072594"/>
            <a:ext cx="5251438" cy="2278664"/>
          </a:xfrm>
          <a:prstGeom prst="roundRect">
            <a:avLst>
              <a:gd name="adj" fmla="val 7245"/>
            </a:avLst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1041376" y="3402781"/>
            <a:ext cx="4728793" cy="783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34"/>
              </a:lnSpc>
              <a:buNone/>
            </a:pPr>
            <a:r>
              <a:rPr lang="en-US" sz="231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r>
              <a:rPr lang="en-US" sz="2310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Milliseconds / 1000</a:t>
            </a:r>
            <a:endParaRPr lang="en-US" sz="2310" dirty="0"/>
          </a:p>
        </p:txBody>
      </p:sp>
      <p:sp>
        <p:nvSpPr>
          <p:cNvPr id="7" name="Text 5"/>
          <p:cNvSpPr/>
          <p:nvPr/>
        </p:nvSpPr>
        <p:spPr>
          <a:xfrm>
            <a:off x="1041376" y="4262738"/>
            <a:ext cx="4728793" cy="78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3"/>
              </a:lnSpc>
              <a:buNone/>
            </a:pPr>
            <a:r>
              <a:rPr lang="en-US" sz="2616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r>
              <a:rPr lang="en-US" sz="2616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Seconds </a:t>
            </a:r>
            <a:r>
              <a:rPr lang="en-US" sz="2616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2616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tracks;</a:t>
            </a:r>
            <a:endParaRPr lang="en-US" sz="2616" dirty="0"/>
          </a:p>
        </p:txBody>
      </p:sp>
      <p:sp>
        <p:nvSpPr>
          <p:cNvPr id="8" name="Shape 6"/>
          <p:cNvSpPr/>
          <p:nvPr/>
        </p:nvSpPr>
        <p:spPr>
          <a:xfrm>
            <a:off x="6229314" y="3072594"/>
            <a:ext cx="5251498" cy="2278664"/>
          </a:xfrm>
          <a:prstGeom prst="roundRect">
            <a:avLst>
              <a:gd name="adj" fmla="val 7245"/>
            </a:avLst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6559501" y="3402781"/>
            <a:ext cx="4728855" cy="783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4"/>
              </a:lnSpc>
              <a:buNone/>
            </a:pPr>
            <a:r>
              <a:rPr lang="en-US" sz="2231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ROUND</a:t>
            </a:r>
            <a:r>
              <a:rPr lang="en-US" sz="2231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(prix * 1.2, 2)</a:t>
            </a:r>
            <a:endParaRPr lang="en-US" sz="2231" dirty="0"/>
          </a:p>
        </p:txBody>
      </p:sp>
      <p:sp>
        <p:nvSpPr>
          <p:cNvPr id="10" name="Text 8"/>
          <p:cNvSpPr/>
          <p:nvPr/>
        </p:nvSpPr>
        <p:spPr>
          <a:xfrm>
            <a:off x="6559501" y="4262738"/>
            <a:ext cx="4728855" cy="78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34"/>
              </a:lnSpc>
              <a:buNone/>
            </a:pPr>
            <a:r>
              <a:rPr lang="en-US" sz="231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r>
              <a:rPr lang="en-US" sz="2310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prix_ttc </a:t>
            </a:r>
            <a:r>
              <a:rPr lang="en-US" sz="231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2310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produits;</a:t>
            </a:r>
            <a:endParaRPr lang="en-US" sz="2310" dirty="0"/>
          </a:p>
        </p:txBody>
      </p:sp>
      <p:sp>
        <p:nvSpPr>
          <p:cNvPr id="11" name="Text 9"/>
          <p:cNvSpPr/>
          <p:nvPr/>
        </p:nvSpPr>
        <p:spPr>
          <a:xfrm>
            <a:off x="711188" y="5706824"/>
            <a:ext cx="11092712" cy="363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7"/>
              </a:lnSpc>
              <a:buNone/>
            </a:pPr>
            <a:r>
              <a:rPr lang="en-US" sz="1905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Astuce : 7 / 2 vaut 3 en SQLite (division entière) — 7.0 / 2 vaut 3.5.</a:t>
            </a:r>
            <a:endParaRPr lang="en-US" sz="190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3"/>
            <a:ext cx="11092712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Relier deux tables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8" y="970180"/>
            <a:ext cx="11092712" cy="416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Clé primaire, clé étrangère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1188" y="1462906"/>
            <a:ext cx="11092712" cy="558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r>
              <a:rPr lang="en-US" sz="1400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identifie chaque ligne de façon unique. </a:t>
            </a:r>
            <a:r>
              <a:rPr lang="en-US" sz="1400" b="1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étrangère</a:t>
            </a:r>
            <a:r>
              <a:rPr lang="en-US" sz="1400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pointe vers la clé primaire d'une autre table, pour représenter un lien entre les deux.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7538" y="3091151"/>
            <a:ext cx="4838736" cy="1645877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 w="12700">
            <a:solidFill>
              <a:srgbClr val="1A4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485" y="3274098"/>
            <a:ext cx="4607026" cy="2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0010" y="3642351"/>
            <a:ext cx="0" cy="911730"/>
          </a:xfrm>
          <a:prstGeom prst="line">
            <a:avLst/>
          </a:prstGeom>
          <a:noFill/>
          <a:ln w="19050">
            <a:solidFill>
              <a:srgbClr val="E3E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0131" y="3642351"/>
            <a:ext cx="4343195" cy="358150"/>
          </a:xfrm>
          <a:prstGeom prst="roundRect">
            <a:avLst>
              <a:gd name="adj" fmla="val 14184"/>
            </a:avLst>
          </a:prstGeom>
          <a:solidFill>
            <a:srgbClr val="EAF1FB"/>
          </a:solidFill>
          <a:ln/>
        </p:spPr>
      </p:sp>
      <p:sp>
        <p:nvSpPr>
          <p:cNvPr id="9" name="Text 7"/>
          <p:cNvSpPr/>
          <p:nvPr/>
        </p:nvSpPr>
        <p:spPr>
          <a:xfrm>
            <a:off x="1119007" y="3705851"/>
            <a:ext cx="248877" cy="25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0584" y="3732550"/>
            <a:ext cx="754531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0131" y="4064000"/>
            <a:ext cx="4473491" cy="238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0131" y="4340789"/>
            <a:ext cx="4473491" cy="238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ville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78500" y="3778250"/>
            <a:ext cx="635000" cy="25376"/>
          </a:xfrm>
          <a:prstGeom prst="rect">
            <a:avLst/>
          </a:prstGeom>
          <a:solidFill>
            <a:srgbClr val="C9781F"/>
          </a:solidFill>
          <a:ln/>
        </p:spPr>
      </p:sp>
      <p:sp>
        <p:nvSpPr>
          <p:cNvPr id="14" name="Text 12"/>
          <p:cNvSpPr/>
          <p:nvPr/>
        </p:nvSpPr>
        <p:spPr>
          <a:xfrm>
            <a:off x="5777838" y="3854379"/>
            <a:ext cx="687063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97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référence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35725" y="3091151"/>
            <a:ext cx="4838736" cy="1645877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 w="12700">
            <a:solidFill>
              <a:srgbClr val="C978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8673" y="3274098"/>
            <a:ext cx="4607026" cy="2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78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commandes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28198" y="3642351"/>
            <a:ext cx="0" cy="911730"/>
          </a:xfrm>
          <a:prstGeom prst="line">
            <a:avLst/>
          </a:prstGeom>
          <a:noFill/>
          <a:ln w="19050">
            <a:solidFill>
              <a:srgbClr val="E3E6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8319" y="3642351"/>
            <a:ext cx="4343195" cy="358150"/>
          </a:xfrm>
          <a:prstGeom prst="roundRect">
            <a:avLst>
              <a:gd name="adj" fmla="val 14184"/>
            </a:avLst>
          </a:prstGeom>
          <a:solidFill>
            <a:srgbClr val="FBEEDD"/>
          </a:solidFill>
          <a:ln/>
        </p:spPr>
      </p:sp>
      <p:sp>
        <p:nvSpPr>
          <p:cNvPr id="19" name="Text 17"/>
          <p:cNvSpPr/>
          <p:nvPr/>
        </p:nvSpPr>
        <p:spPr>
          <a:xfrm>
            <a:off x="7037194" y="3705851"/>
            <a:ext cx="942145" cy="25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8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client_id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92040" y="3732550"/>
            <a:ext cx="845332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97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étrangère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8319" y="4064000"/>
            <a:ext cx="4473491" cy="238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produit_id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8319" y="4340789"/>
            <a:ext cx="4473491" cy="238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montant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188" y="5831957"/>
            <a:ext cx="11092712" cy="238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idée qu'une relation Access, ou un VLOOKUP entre deux feuilles Excel.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3"/>
            <a:ext cx="11092712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Relier deux tables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8" y="932114"/>
            <a:ext cx="11092712" cy="33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chaînes de clés étrangères dans chinook.db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538" y="1756389"/>
            <a:ext cx="3119967" cy="1332105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12700">
            <a:solidFill>
              <a:srgbClr val="1A4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6985" y="1875836"/>
            <a:ext cx="2967504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3335" y="2134887"/>
            <a:ext cx="0" cy="834159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4719" y="2134887"/>
            <a:ext cx="2793338" cy="266628"/>
          </a:xfrm>
          <a:prstGeom prst="roundRect">
            <a:avLst>
              <a:gd name="adj" fmla="val 16671"/>
            </a:avLst>
          </a:prstGeom>
          <a:solidFill>
            <a:srgbClr val="EAF1FB"/>
          </a:solidFill>
          <a:ln/>
        </p:spPr>
      </p:sp>
      <p:sp>
        <p:nvSpPr>
          <p:cNvPr id="8" name="Text 6"/>
          <p:cNvSpPr/>
          <p:nvPr/>
        </p:nvSpPr>
        <p:spPr>
          <a:xfrm>
            <a:off x="988219" y="2179324"/>
            <a:ext cx="584236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72407" y="2205965"/>
            <a:ext cx="543286" cy="149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719" y="2439578"/>
            <a:ext cx="2877139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24719" y="2637656"/>
            <a:ext cx="2877139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AlbumId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24719" y="2835731"/>
            <a:ext cx="2877139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+ 6 colonnes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996230" y="2319555"/>
            <a:ext cx="381000" cy="25376"/>
          </a:xfrm>
          <a:prstGeom prst="rect">
            <a:avLst/>
          </a:prstGeom>
          <a:solidFill>
            <a:srgbClr val="C9781F"/>
          </a:solidFill>
          <a:ln/>
        </p:spPr>
      </p:sp>
      <p:sp>
        <p:nvSpPr>
          <p:cNvPr id="14" name="Text 12"/>
          <p:cNvSpPr/>
          <p:nvPr/>
        </p:nvSpPr>
        <p:spPr>
          <a:xfrm>
            <a:off x="3989014" y="2382993"/>
            <a:ext cx="446172" cy="167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97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AlbumId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35956" y="1842077"/>
            <a:ext cx="3120027" cy="1160727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12700">
            <a:solidFill>
              <a:srgbClr val="1A4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5403" y="1961524"/>
            <a:ext cx="296756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albums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1753" y="2220575"/>
            <a:ext cx="0" cy="662781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3137" y="2220575"/>
            <a:ext cx="2793398" cy="266628"/>
          </a:xfrm>
          <a:prstGeom prst="roundRect">
            <a:avLst>
              <a:gd name="adj" fmla="val 16671"/>
            </a:avLst>
          </a:prstGeom>
          <a:solidFill>
            <a:srgbClr val="EA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6637" y="2265012"/>
            <a:ext cx="584236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AlbumId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0825" y="2291652"/>
            <a:ext cx="543286" cy="149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43137" y="2525266"/>
            <a:ext cx="2877200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Title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43137" y="2723344"/>
            <a:ext cx="2877200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ArtistId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14709" y="2319555"/>
            <a:ext cx="381000" cy="25376"/>
          </a:xfrm>
          <a:prstGeom prst="rect">
            <a:avLst/>
          </a:prstGeom>
          <a:solidFill>
            <a:srgbClr val="C9781F"/>
          </a:solidFill>
          <a:ln/>
        </p:spPr>
      </p:sp>
      <p:sp>
        <p:nvSpPr>
          <p:cNvPr id="24" name="Text 22"/>
          <p:cNvSpPr/>
          <p:nvPr/>
        </p:nvSpPr>
        <p:spPr>
          <a:xfrm>
            <a:off x="7833169" y="2382993"/>
            <a:ext cx="394879" cy="167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97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ArtistId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354435" y="1941116"/>
            <a:ext cx="3120027" cy="962650"/>
          </a:xfrm>
          <a:prstGeom prst="roundRect">
            <a:avLst>
              <a:gd name="adj" fmla="val 8575"/>
            </a:avLst>
          </a:prstGeom>
          <a:solidFill>
            <a:srgbClr val="FFFFFF"/>
          </a:solidFill>
          <a:ln w="12700">
            <a:solidFill>
              <a:srgbClr val="1A4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3882" y="2060563"/>
            <a:ext cx="296756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artists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80232" y="2319613"/>
            <a:ext cx="0" cy="464705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61615" y="2319613"/>
            <a:ext cx="2793398" cy="266628"/>
          </a:xfrm>
          <a:prstGeom prst="roundRect">
            <a:avLst>
              <a:gd name="adj" fmla="val 16671"/>
            </a:avLst>
          </a:prstGeom>
          <a:solidFill>
            <a:srgbClr val="EAF1FB"/>
          </a:solidFill>
          <a:ln/>
        </p:spPr>
      </p:sp>
      <p:sp>
        <p:nvSpPr>
          <p:cNvPr id="29" name="Text 27"/>
          <p:cNvSpPr/>
          <p:nvPr/>
        </p:nvSpPr>
        <p:spPr>
          <a:xfrm>
            <a:off x="8625115" y="2364051"/>
            <a:ext cx="660424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4D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ArtistId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85491" y="2390691"/>
            <a:ext cx="543286" cy="149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561615" y="2624305"/>
            <a:ext cx="2877200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7538" y="3982796"/>
            <a:ext cx="3119967" cy="1332105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12700">
            <a:solidFill>
              <a:srgbClr val="C978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985" y="4102246"/>
            <a:ext cx="2967504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978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invoice_items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3335" y="4361293"/>
            <a:ext cx="0" cy="834159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4719" y="4361293"/>
            <a:ext cx="2793338" cy="266628"/>
          </a:xfrm>
          <a:prstGeom prst="roundRect">
            <a:avLst>
              <a:gd name="adj" fmla="val 16671"/>
            </a:avLst>
          </a:prstGeom>
          <a:solidFill>
            <a:srgbClr val="FBEEDD"/>
          </a:solidFill>
          <a:ln/>
        </p:spPr>
      </p:sp>
      <p:sp>
        <p:nvSpPr>
          <p:cNvPr id="36" name="Text 34"/>
          <p:cNvSpPr/>
          <p:nvPr/>
        </p:nvSpPr>
        <p:spPr>
          <a:xfrm>
            <a:off x="988219" y="4405731"/>
            <a:ext cx="1041424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78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InvoiceItemId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29595" y="4432371"/>
            <a:ext cx="543286" cy="149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97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24719" y="4665988"/>
            <a:ext cx="2877139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InvoiceId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4719" y="4864066"/>
            <a:ext cx="2877139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4719" y="5062138"/>
            <a:ext cx="2877139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+ 2 colonnes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996230" y="4546020"/>
            <a:ext cx="381000" cy="25376"/>
          </a:xfrm>
          <a:prstGeom prst="rect">
            <a:avLst/>
          </a:prstGeom>
          <a:solidFill>
            <a:srgbClr val="1F7A3D"/>
          </a:solidFill>
          <a:ln/>
        </p:spPr>
      </p:sp>
      <p:sp>
        <p:nvSpPr>
          <p:cNvPr id="42" name="Text 40"/>
          <p:cNvSpPr/>
          <p:nvPr/>
        </p:nvSpPr>
        <p:spPr>
          <a:xfrm>
            <a:off x="3970133" y="4609464"/>
            <a:ext cx="483935" cy="167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F7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InvoiceId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35956" y="3982796"/>
            <a:ext cx="3120027" cy="1332105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55403" y="4102246"/>
            <a:ext cx="296756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F7A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invoices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1753" y="4361293"/>
            <a:ext cx="0" cy="834159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43137" y="4361293"/>
            <a:ext cx="2793398" cy="266628"/>
          </a:xfrm>
          <a:prstGeom prst="roundRect">
            <a:avLst>
              <a:gd name="adj" fmla="val 16671"/>
            </a:avLst>
          </a:prstGeom>
          <a:solidFill>
            <a:srgbClr val="E6F2EA"/>
          </a:solidFill>
          <a:ln/>
        </p:spPr>
      </p:sp>
      <p:sp>
        <p:nvSpPr>
          <p:cNvPr id="47" name="Text 45"/>
          <p:cNvSpPr/>
          <p:nvPr/>
        </p:nvSpPr>
        <p:spPr>
          <a:xfrm>
            <a:off x="4806637" y="4405731"/>
            <a:ext cx="736612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F7A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InvoiceId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43201" y="4432371"/>
            <a:ext cx="543286" cy="149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1F7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43137" y="4665988"/>
            <a:ext cx="2877200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CustomerId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43137" y="4864066"/>
            <a:ext cx="2877200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43137" y="5062138"/>
            <a:ext cx="28772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+ 6 colonnes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814709" y="4546020"/>
            <a:ext cx="381000" cy="25376"/>
          </a:xfrm>
          <a:prstGeom prst="rect">
            <a:avLst/>
          </a:prstGeom>
          <a:solidFill>
            <a:srgbClr val="1F7A3D"/>
          </a:solidFill>
          <a:ln/>
        </p:spPr>
      </p:sp>
      <p:sp>
        <p:nvSpPr>
          <p:cNvPr id="53" name="Text 51"/>
          <p:cNvSpPr/>
          <p:nvPr/>
        </p:nvSpPr>
        <p:spPr>
          <a:xfrm>
            <a:off x="7725953" y="4609464"/>
            <a:ext cx="609311" cy="167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F7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CustomerId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354435" y="3982796"/>
            <a:ext cx="3120027" cy="1332105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73882" y="4102246"/>
            <a:ext cx="296756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F7A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480232" y="4361293"/>
            <a:ext cx="0" cy="834159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61615" y="4361293"/>
            <a:ext cx="2793398" cy="266628"/>
          </a:xfrm>
          <a:prstGeom prst="roundRect">
            <a:avLst>
              <a:gd name="adj" fmla="val 16671"/>
            </a:avLst>
          </a:prstGeom>
          <a:solidFill>
            <a:srgbClr val="E6F2EA"/>
          </a:solidFill>
          <a:ln/>
        </p:spPr>
      </p:sp>
      <p:sp>
        <p:nvSpPr>
          <p:cNvPr id="58" name="Text 56"/>
          <p:cNvSpPr/>
          <p:nvPr/>
        </p:nvSpPr>
        <p:spPr>
          <a:xfrm>
            <a:off x="8625115" y="4405731"/>
            <a:ext cx="812860" cy="20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F7A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CustomerId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437927" y="4432371"/>
            <a:ext cx="543286" cy="149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1F7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561615" y="4665988"/>
            <a:ext cx="2877200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FirstName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561615" y="4864066"/>
            <a:ext cx="2877200" cy="1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1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LastName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561615" y="5062138"/>
            <a:ext cx="28772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+ 10 colonnes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11188" y="5831957"/>
            <a:ext cx="11092712" cy="238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flèche = une clé étrangère qui référence la clé primaire de la table suivante.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9"/>
            <a:ext cx="11092712" cy="333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4"/>
              </a:lnSpc>
              <a:buNone/>
            </a:pPr>
            <a:r>
              <a:rPr lang="en-US" sz="2054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Combiner deux tables</a:t>
            </a:r>
            <a:endParaRPr lang="en-US" sz="2054" dirty="0"/>
          </a:p>
        </p:txBody>
      </p:sp>
      <p:sp>
        <p:nvSpPr>
          <p:cNvPr id="3" name="Text 1"/>
          <p:cNvSpPr/>
          <p:nvPr/>
        </p:nvSpPr>
        <p:spPr>
          <a:xfrm>
            <a:off x="711188" y="1120874"/>
            <a:ext cx="11092712" cy="59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5"/>
              </a:lnSpc>
              <a:buNone/>
            </a:pPr>
            <a:r>
              <a:rPr lang="en-US" sz="4095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INNER JOIN</a:t>
            </a:r>
            <a:endParaRPr lang="en-US" sz="4095" dirty="0"/>
          </a:p>
        </p:txBody>
      </p:sp>
      <p:sp>
        <p:nvSpPr>
          <p:cNvPr id="4" name="Text 2"/>
          <p:cNvSpPr/>
          <p:nvPr/>
        </p:nvSpPr>
        <p:spPr>
          <a:xfrm>
            <a:off x="711188" y="1898086"/>
            <a:ext cx="11092712" cy="72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99"/>
              </a:lnSpc>
              <a:buNone/>
            </a:pPr>
            <a:r>
              <a:rPr lang="en-US" sz="2266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garde que les lignes qui trouvent une correspondance dans les deux tables.</a:t>
            </a:r>
            <a:endParaRPr lang="en-US" sz="2266" dirty="0"/>
          </a:p>
        </p:txBody>
      </p:sp>
      <p:sp>
        <p:nvSpPr>
          <p:cNvPr id="5" name="Shape 3"/>
          <p:cNvSpPr/>
          <p:nvPr/>
        </p:nvSpPr>
        <p:spPr>
          <a:xfrm>
            <a:off x="711188" y="2949563"/>
            <a:ext cx="10769623" cy="2452928"/>
          </a:xfrm>
          <a:prstGeom prst="roundRect">
            <a:avLst>
              <a:gd name="adj" fmla="val 6731"/>
            </a:avLst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1092188" y="3330563"/>
            <a:ext cx="10307852" cy="39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122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r>
              <a:rPr lang="en-US" sz="2122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customers.FirstName, invoices.Total</a:t>
            </a:r>
            <a:endParaRPr lang="en-US" sz="2122" dirty="0"/>
          </a:p>
        </p:txBody>
      </p:sp>
      <p:sp>
        <p:nvSpPr>
          <p:cNvPr id="7" name="Text 5"/>
          <p:cNvSpPr/>
          <p:nvPr/>
        </p:nvSpPr>
        <p:spPr>
          <a:xfrm>
            <a:off x="1092188" y="3804109"/>
            <a:ext cx="10307852" cy="39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122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2122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invoices</a:t>
            </a:r>
            <a:endParaRPr lang="en-US" sz="2122" dirty="0"/>
          </a:p>
        </p:txBody>
      </p:sp>
      <p:sp>
        <p:nvSpPr>
          <p:cNvPr id="8" name="Text 6"/>
          <p:cNvSpPr/>
          <p:nvPr/>
        </p:nvSpPr>
        <p:spPr>
          <a:xfrm>
            <a:off x="1092188" y="4277593"/>
            <a:ext cx="10307852" cy="76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1"/>
              </a:lnSpc>
              <a:buNone/>
            </a:pPr>
            <a:r>
              <a:rPr lang="en-US" sz="2151" b="1" dirty="0">
                <a:solidFill>
                  <a:srgbClr val="0F8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</a:t>
            </a:r>
            <a:r>
              <a:rPr lang="en-US" sz="2151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customers </a:t>
            </a:r>
            <a:r>
              <a:rPr lang="en-US" sz="2151" b="1" dirty="0">
                <a:solidFill>
                  <a:srgbClr val="0F8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r>
              <a:rPr lang="en-US" sz="2151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invoices.CustomerId = customers.CustomerId;</a:t>
            </a:r>
            <a:endParaRPr lang="en-US" sz="2151" dirty="0"/>
          </a:p>
        </p:txBody>
      </p:sp>
      <p:sp>
        <p:nvSpPr>
          <p:cNvPr id="9" name="Text 7"/>
          <p:cNvSpPr/>
          <p:nvPr/>
        </p:nvSpPr>
        <p:spPr>
          <a:xfrm>
            <a:off x="711188" y="5758055"/>
            <a:ext cx="11092712" cy="31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4"/>
              </a:lnSpc>
              <a:buNone/>
            </a:pPr>
            <a:r>
              <a:rPr lang="en-US" sz="1624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table.colonne lève toute ambiguïté dès que deux tables sont en jeu.</a:t>
            </a:r>
            <a:endParaRPr lang="en-US" sz="162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3"/>
            <a:ext cx="11092712" cy="626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30"/>
              </a:lnSpc>
              <a:buNone/>
            </a:pPr>
            <a:r>
              <a:rPr lang="en-US" sz="4300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Anatomie d'une requête complète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11188" y="1527789"/>
            <a:ext cx="10769623" cy="451746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/>
        </p:spPr>
      </p:sp>
      <p:pic>
        <p:nvPicPr>
          <p:cNvPr id="4" name="Image 0" descr="Diagramme annoté d'une requête SELECT FROM JOIN WHERE ORDER BY, avec le rôle de chaque clause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952500" y="2583179"/>
            <a:ext cx="10286999" cy="24066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64" y="1206562"/>
            <a:ext cx="11302057" cy="48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À vous de jouer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564" y="1935491"/>
            <a:ext cx="11302057" cy="2372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4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Exercices guidés</a:t>
            </a:r>
            <a:endParaRPr lang="en-US" sz="8400" dirty="0"/>
          </a:p>
          <a:p>
            <a:pPr algn="l" indent="0" marL="0">
              <a:lnSpc>
                <a:spcPts val="924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 chinook.db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09564" y="4549149"/>
            <a:ext cx="11302057" cy="112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C7D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Ouvrez SQLiteStudio — on commence ensemble, puis vous continuez seul·e.</a:t>
            </a:r>
            <a:endParaRPr lang="en-US" sz="3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8" y="609563"/>
            <a:ext cx="11092712" cy="49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À rendre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11188" y="1247031"/>
            <a:ext cx="11092712" cy="8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32A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Devoir 2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11188" y="2402718"/>
            <a:ext cx="5251438" cy="291606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41376" y="2732906"/>
            <a:ext cx="4728793" cy="45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A4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Votre base individuelle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1376" y="3299296"/>
            <a:ext cx="4728793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500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github.com/frey-iutsd/sql-2026 → sql2 → bdd → votre numéro étudiant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229314" y="2402718"/>
            <a:ext cx="5251498" cy="291606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59501" y="2732906"/>
            <a:ext cx="4728855" cy="45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C97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rendu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59501" y="3299296"/>
            <a:ext cx="4728855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500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fichier texte, une ligne </a:t>
            </a:r>
            <a:r>
              <a:rPr lang="en-US" sz="2500" b="1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 exercice N</a:t>
            </a:r>
            <a:r>
              <a:rPr lang="en-US" sz="2500" dirty="0">
                <a:solidFill>
                  <a:srgbClr val="3A4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 réponse, déposé sur Teams.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11188" y="5636289"/>
            <a:ext cx="11092712" cy="434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Prénom-NOM-SQL-Devoir2.txt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64" y="2465077"/>
            <a:ext cx="11302057" cy="1198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4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 questions ?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609564" y="3841750"/>
            <a:ext cx="11302057" cy="57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C7D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BDD SQL — Séance 2 — BUT3 GEA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BDD SQL — Séance 2</dc:title>
  <dc:subject>PptxGenJS Presentation</dc:subject>
  <dc:creator>PptxGenJS</dc:creator>
  <cp:lastModifiedBy>PptxGenJS</cp:lastModifiedBy>
  <cp:revision>1</cp:revision>
  <dcterms:created xsi:type="dcterms:W3CDTF">2026-09-20T22:14:38Z</dcterms:created>
  <dcterms:modified xsi:type="dcterms:W3CDTF">2026-09-20T22:14:38Z</dcterms:modified>
</cp:coreProperties>
</file>